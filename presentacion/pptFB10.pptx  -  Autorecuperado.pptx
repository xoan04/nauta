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61" r:id="rId4"/>
    <p:sldId id="257" r:id="rId5"/>
    <p:sldId id="258" r:id="rId6"/>
    <p:sldId id="262" r:id="rId7"/>
    <p:sldId id="265" r:id="rId8"/>
    <p:sldId id="259" r:id="rId9"/>
    <p:sldId id="266" r:id="rId10"/>
    <p:sldId id="268" r:id="rId11"/>
    <p:sldId id="264" r:id="rId12"/>
    <p:sldId id="263" r:id="rId13"/>
    <p:sldId id="267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0E0E"/>
    <a:srgbClr val="F15A29"/>
    <a:srgbClr val="88726C"/>
    <a:srgbClr val="1D5C4A"/>
    <a:srgbClr val="FFFFFF"/>
    <a:srgbClr val="F0F8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B678C5-3DA8-494A-999B-467731792E41}" v="675" dt="2026-04-26T18:55:57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5C161-AFE6-4753-9284-469EA936FF99}" type="datetimeFigureOut">
              <a:rPr lang="es-CO" smtClean="0"/>
              <a:t>26/04/2026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B7ED2-5FB9-4EBB-81E9-58581F7BA1B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3375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FB7ED2-5FB9-4EBB-81E9-58581F7BA1BB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5212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0F88F-CB0B-1E40-59C5-7C7C01AD5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593601-0A2A-D99D-0F44-7A891B9DD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4EEFAA-82A9-3C0F-6783-8D12A252E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0BDD-F54F-408C-8902-E0FC029C6A97}" type="datetimeFigureOut">
              <a:rPr lang="es-CO" smtClean="0"/>
              <a:t>26/04/2026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42A4DD-2541-FCE5-7ECF-712EB538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292B83-56BD-89B9-4DF7-969411925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5F4-722D-4533-9569-AD8765B30E8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7671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0AAFA-86A9-FE44-59DA-2784DE779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CABFA0-CAE0-45ED-E7E1-61D8EB42E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970686-B91E-286F-7935-533F3E558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0BDD-F54F-408C-8902-E0FC029C6A97}" type="datetimeFigureOut">
              <a:rPr lang="es-CO" smtClean="0"/>
              <a:t>26/04/2026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4A3778-9F41-6E88-E857-86F743C2A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9E492F-40EC-E722-7744-22A89330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5F4-722D-4533-9569-AD8765B30E8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8584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D9873C-5F0C-D606-6B1D-3FD9AE95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58A23A-0FE5-135A-DFDA-649113783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755057-770D-41D8-E399-98D00692B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0BDD-F54F-408C-8902-E0FC029C6A97}" type="datetimeFigureOut">
              <a:rPr lang="es-CO" smtClean="0"/>
              <a:t>26/04/2026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2D2D8C-D410-0B99-B042-B1349DE2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DF1E1D-E5EB-20B2-EBAE-F501B832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5F4-722D-4533-9569-AD8765B30E8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014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EA602-FB65-54BD-6117-0ABB508C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AC45E9-E830-52AC-53EA-1FB1940A0A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F6AD97-884D-8794-0F6D-5DB8704B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E5C09E8-BB40-55AD-F5D5-1E046715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0BDD-F54F-408C-8902-E0FC029C6A97}" type="datetimeFigureOut">
              <a:rPr lang="es-CO" smtClean="0"/>
              <a:t>26/04/2026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05D032-2746-46F9-F08A-824760684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B458AD-559E-AB12-70F0-291DAD21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5F4-722D-4533-9569-AD8765B30E8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7439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C1A40-2D45-7BAF-C546-F3C6188D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AFA294-338C-BC1C-8C28-ED3F73531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7A5305-A6A2-A310-99D7-B9549429E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ACFD91F-B35A-BDFB-84E0-3BE5B2BAC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1CBCE7A-81CB-6FA9-CFE2-73DC4DE77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F6A465A-BBCA-9B39-1475-C671CBF31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0BDD-F54F-408C-8902-E0FC029C6A97}" type="datetimeFigureOut">
              <a:rPr lang="es-CO" smtClean="0"/>
              <a:t>26/04/2026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5EF4D61-CC4C-1182-8477-53D4A4A6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8BC264-DCCF-3D70-6AD7-B3719199D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5F4-722D-4533-9569-AD8765B30E8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6011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26742-CB1D-0A27-FBCD-7521C069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3A07E6-8193-2750-B12D-06AACE4C4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0BDD-F54F-408C-8902-E0FC029C6A97}" type="datetimeFigureOut">
              <a:rPr lang="es-CO" smtClean="0"/>
              <a:t>26/04/2026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D0D1D3-AF0F-7B44-0D37-C6270435E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6237FDF-00AA-E02C-AAF7-1F0E42AD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5F4-722D-4533-9569-AD8765B30E8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5773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D88F8CD-6E0D-2DED-48EC-520EB4FAD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0BDD-F54F-408C-8902-E0FC029C6A97}" type="datetimeFigureOut">
              <a:rPr lang="es-CO" smtClean="0"/>
              <a:t>26/04/2026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97B3965-65CA-96F6-696E-EECD9215D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6C31F9-7073-4687-48FA-7194B2425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5F4-722D-4533-9569-AD8765B30E8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735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71FDD-5DA2-8FD4-3D1A-5BF221C47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0401DF-7B6E-9AD2-5778-232C0C12A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C16AF2-689B-0131-B639-6561AF8D0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03956B-B3D0-D105-7225-EE33D7E3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0BDD-F54F-408C-8902-E0FC029C6A97}" type="datetimeFigureOut">
              <a:rPr lang="es-CO" smtClean="0"/>
              <a:t>26/04/2026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436C2C-9F60-DD00-297D-DBCCE2164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5F885B-C4FF-23FF-822D-3B9C9B93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5F4-722D-4533-9569-AD8765B30E8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544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E8BDB-3818-5494-1B64-80B41A89A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039063A-5ED1-7ECD-8D55-1157A95CC2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EDA5FD3-C6F6-70CA-2F6C-1C3E7EE7D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ACC77E-E066-E5D7-2829-6249094B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0BDD-F54F-408C-8902-E0FC029C6A97}" type="datetimeFigureOut">
              <a:rPr lang="es-CO" smtClean="0"/>
              <a:t>26/04/2026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E944B1-071B-E0E5-C563-5FDBCC406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7C0F8-0DCA-BCDF-68D5-C5EB68735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5F4-722D-4533-9569-AD8765B30E8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542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DDA884-CD72-73ED-07C7-789FA6EA4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301B3B-1512-E115-3B57-6D1B7613C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FC621-C811-C11D-95F1-5E1F4E04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0BDD-F54F-408C-8902-E0FC029C6A97}" type="datetimeFigureOut">
              <a:rPr lang="es-CO" smtClean="0"/>
              <a:t>26/04/2026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9038C0-F6D6-BDAB-3C10-206817FAD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2BFC41-345A-6AEC-1342-25F3FD32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5F4-722D-4533-9569-AD8765B30E8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2223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024640-C94B-EDE9-17F1-D16988E4E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6C704A-5579-0554-2FE8-6ECAF2DE7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5CF0A2-B46C-A244-5BA6-442423856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0BDD-F54F-408C-8902-E0FC029C6A97}" type="datetimeFigureOut">
              <a:rPr lang="es-CO" smtClean="0"/>
              <a:t>26/04/2026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F5C7DE-C169-7BB5-8F47-C532150F2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85E298-ACD9-6CEA-C2E5-CD431F7D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8E5F4-722D-4533-9569-AD8765B30E8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2323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636C9A7-BF1F-18D6-852F-9E35CF4A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D9EDEE-BC9A-3C87-2755-3EA677F52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C462B1-46E1-7330-452C-231B6C946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8A0BDD-F54F-408C-8902-E0FC029C6A97}" type="datetimeFigureOut">
              <a:rPr lang="es-CO" smtClean="0"/>
              <a:t>26/04/2026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AF81AA-FFF6-04EE-AF3D-139C35BB9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FE9F77-EFD2-9731-A2C2-BFDB0F5561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C8E5F4-722D-4533-9569-AD8765B30E8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3032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www.gwi.com/reports/social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nu.edu/blog/social-media-trends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E5CCE1A-F523-0D83-7CEA-AF15189E8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11F0AF20-D0D1-5C30-88C5-CFDF4038B566}"/>
              </a:ext>
            </a:extLst>
          </p:cNvPr>
          <p:cNvGrpSpPr/>
          <p:nvPr/>
        </p:nvGrpSpPr>
        <p:grpSpPr>
          <a:xfrm>
            <a:off x="4705350" y="-609600"/>
            <a:ext cx="7486651" cy="6858000"/>
            <a:chOff x="4705350" y="-609600"/>
            <a:chExt cx="7486651" cy="6858000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19CAEADF-B4EC-6858-A8BB-66C1EB80A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8125"/>
            <a:stretch>
              <a:fillRect/>
            </a:stretch>
          </p:blipFill>
          <p:spPr>
            <a:xfrm>
              <a:off x="4705350" y="-609600"/>
              <a:ext cx="7486650" cy="6858000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DD0BBE90-47F0-E727-5EF0-31B8611A0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37" t="261" r="11580" b="-261"/>
            <a:stretch>
              <a:fillRect/>
            </a:stretch>
          </p:blipFill>
          <p:spPr>
            <a:xfrm>
              <a:off x="6018029" y="1212113"/>
              <a:ext cx="6173972" cy="4102838"/>
            </a:xfrm>
            <a:prstGeom prst="rect">
              <a:avLst/>
            </a:prstGeom>
          </p:spPr>
        </p:pic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44C94C46-3842-DD26-AE53-634DEF82F190}"/>
              </a:ext>
            </a:extLst>
          </p:cNvPr>
          <p:cNvSpPr txBox="1"/>
          <p:nvPr/>
        </p:nvSpPr>
        <p:spPr>
          <a:xfrm>
            <a:off x="967067" y="2160472"/>
            <a:ext cx="373828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F15A29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Montserrat Black" pitchFamily="2" charset="0"/>
              </a:rPr>
              <a:t>Equipo </a:t>
            </a:r>
            <a:r>
              <a:rPr lang="es-MX" sz="7200" dirty="0">
                <a:solidFill>
                  <a:srgbClr val="F15A29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Montserrat Black" pitchFamily="2" charset="0"/>
              </a:rPr>
              <a:t>NAUTA</a:t>
            </a:r>
          </a:p>
        </p:txBody>
      </p:sp>
    </p:spTree>
    <p:extLst>
      <p:ext uri="{BB962C8B-B14F-4D97-AF65-F5344CB8AC3E}">
        <p14:creationId xmlns:p14="http://schemas.microsoft.com/office/powerpoint/2010/main" val="2364193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3C73D-8E28-ECC9-BD61-BDC35C8DB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F233476-272F-19A8-1923-AE2B52D1D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716B3EA-023B-1519-6C6E-DFA2C9809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3"/>
          <a:stretch>
            <a:fillRect/>
          </a:stretch>
        </p:blipFill>
        <p:spPr>
          <a:xfrm>
            <a:off x="4705350" y="-609600"/>
            <a:ext cx="90678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59DE6411-279E-576F-489D-A412599E3A57}"/>
              </a:ext>
            </a:extLst>
          </p:cNvPr>
          <p:cNvSpPr/>
          <p:nvPr/>
        </p:nvSpPr>
        <p:spPr>
          <a:xfrm>
            <a:off x="5991367" y="1201003"/>
            <a:ext cx="6564573" cy="41079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522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2BFF9-672D-0E37-26A1-7D772E486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4B7405D-0EA6-4D95-E4A7-4C7E21F08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9333B0CE-08A7-C8AC-A016-31D4D0F510F9}"/>
              </a:ext>
            </a:extLst>
          </p:cNvPr>
          <p:cNvGrpSpPr/>
          <p:nvPr/>
        </p:nvGrpSpPr>
        <p:grpSpPr>
          <a:xfrm>
            <a:off x="1621094" y="-597310"/>
            <a:ext cx="9067800" cy="6858000"/>
            <a:chOff x="1621094" y="-597310"/>
            <a:chExt cx="9067800" cy="6858000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AD39FFAE-F84C-3503-2478-598CEE8EE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33"/>
            <a:stretch>
              <a:fillRect/>
            </a:stretch>
          </p:blipFill>
          <p:spPr>
            <a:xfrm>
              <a:off x="1621094" y="-597310"/>
              <a:ext cx="9067800" cy="6858000"/>
            </a:xfrm>
            <a:prstGeom prst="rect">
              <a:avLst/>
            </a:prstGeom>
          </p:spPr>
        </p:pic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1BBC5E86-F4B8-D14C-0E09-EEC167E29214}"/>
                </a:ext>
              </a:extLst>
            </p:cNvPr>
            <p:cNvSpPr/>
            <p:nvPr/>
          </p:nvSpPr>
          <p:spPr>
            <a:xfrm>
              <a:off x="2900761" y="1213293"/>
              <a:ext cx="6564573" cy="410797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FFD93DE8-47E3-D185-07EE-F780AC34327C}"/>
              </a:ext>
            </a:extLst>
          </p:cNvPr>
          <p:cNvSpPr txBox="1"/>
          <p:nvPr/>
        </p:nvSpPr>
        <p:spPr>
          <a:xfrm>
            <a:off x="3057852" y="1743787"/>
            <a:ext cx="625039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dirty="0">
                <a:solidFill>
                  <a:srgbClr val="F20E0E"/>
                </a:solidFill>
                <a:latin typeface="Montserrat Medium" pitchFamily="2" charset="0"/>
              </a:rPr>
              <a:t>¿Puede la formalización ser un proceso más atractivo?</a:t>
            </a:r>
            <a:endParaRPr lang="es-CO" sz="4800" dirty="0">
              <a:solidFill>
                <a:srgbClr val="F20E0E"/>
              </a:solidFill>
              <a:latin typeface="Montserra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493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578FE-4F1A-7BAC-1442-6141A9825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E15FD67-767F-AE2E-CF9B-7FA7557E7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B5C2443-8299-EB51-AE65-2DEE19A15F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550" y="171450"/>
            <a:ext cx="1409700" cy="14097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837B6A5-996D-AC5B-2F08-4F087ECBAA9F}"/>
              </a:ext>
            </a:extLst>
          </p:cNvPr>
          <p:cNvSpPr txBox="1"/>
          <p:nvPr/>
        </p:nvSpPr>
        <p:spPr>
          <a:xfrm>
            <a:off x="1015253" y="3960159"/>
            <a:ext cx="8258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88726C"/>
                </a:solidFill>
                <a:latin typeface="Montserrat Medium" pitchFamily="2" charset="0"/>
              </a:rPr>
              <a:t>Webapps</a:t>
            </a:r>
            <a:r>
              <a:rPr lang="es-MX" dirty="0">
                <a:solidFill>
                  <a:srgbClr val="88726C"/>
                </a:solidFill>
                <a:latin typeface="Montserrat Medium" pitchFamily="2" charset="0"/>
              </a:rPr>
              <a:t> brindan accesibilidad multiplataforma sin descargas.</a:t>
            </a:r>
            <a:endParaRPr lang="es-CO" dirty="0">
              <a:solidFill>
                <a:srgbClr val="88726C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760EE4E-EDC7-F676-B261-75C8320C4C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73" y="4012473"/>
            <a:ext cx="279380" cy="2793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13C7F33-793D-B426-F2FA-26002E82E4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73" y="5321068"/>
            <a:ext cx="279380" cy="27938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43152C9-0788-E502-0AC4-7D173BBCCB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73" y="4570526"/>
            <a:ext cx="279380" cy="27938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FDD857F-1A70-AF2E-6972-62D5F9A6C908}"/>
              </a:ext>
            </a:extLst>
          </p:cNvPr>
          <p:cNvSpPr txBox="1"/>
          <p:nvPr/>
        </p:nvSpPr>
        <p:spPr>
          <a:xfrm>
            <a:off x="1015253" y="4526740"/>
            <a:ext cx="7375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rgbClr val="88726C"/>
                </a:solidFill>
                <a:latin typeface="Montserrat Medium" pitchFamily="2" charset="0"/>
              </a:rPr>
              <a:t>94% de los colombianos acceden a internet móvil diariamente (MINTIC, abril 2026).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8FB30BA-5A8A-217A-5E1D-133216C95B4A}"/>
              </a:ext>
            </a:extLst>
          </p:cNvPr>
          <p:cNvSpPr txBox="1"/>
          <p:nvPr/>
        </p:nvSpPr>
        <p:spPr>
          <a:xfrm>
            <a:off x="1015253" y="5288340"/>
            <a:ext cx="73757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rgbClr val="88726C"/>
                </a:solidFill>
                <a:latin typeface="Montserrat Medium" pitchFamily="2" charset="0"/>
              </a:rPr>
              <a:t>Según Global World </a:t>
            </a:r>
            <a:r>
              <a:rPr lang="es-MX" dirty="0" err="1">
                <a:solidFill>
                  <a:srgbClr val="88726C"/>
                </a:solidFill>
                <a:latin typeface="Montserrat Medium" pitchFamily="2" charset="0"/>
              </a:rPr>
              <a:t>Index</a:t>
            </a:r>
            <a:r>
              <a:rPr lang="es-MX" dirty="0">
                <a:solidFill>
                  <a:srgbClr val="88726C"/>
                </a:solidFill>
                <a:latin typeface="Montserrat Medium" pitchFamily="2" charset="0"/>
              </a:rPr>
              <a:t> en Colombia en el 4to lugar a nivel mundial en acceso a redes sociales dedicando en promedio 3 hr 25 min a interactuar [1].</a:t>
            </a:r>
          </a:p>
          <a:p>
            <a:endParaRPr lang="es-MX" dirty="0">
              <a:solidFill>
                <a:srgbClr val="88726C"/>
              </a:solidFill>
              <a:latin typeface="Montserrat Medium" pitchFamily="2" charset="0"/>
            </a:endParaRPr>
          </a:p>
          <a:p>
            <a:r>
              <a:rPr lang="es-MX" sz="1200" dirty="0">
                <a:solidFill>
                  <a:srgbClr val="88726C"/>
                </a:solidFill>
                <a:latin typeface="Montserrat Medium" pitchFamily="2" charset="0"/>
              </a:rPr>
              <a:t>Fuente: </a:t>
            </a:r>
            <a:r>
              <a:rPr lang="en-US" sz="1200" b="1" dirty="0"/>
              <a:t>GWI. (2024).</a:t>
            </a:r>
            <a:r>
              <a:rPr lang="en-US" sz="1200" dirty="0"/>
              <a:t> </a:t>
            </a:r>
            <a:r>
              <a:rPr lang="en-US" sz="1200" i="1" dirty="0"/>
              <a:t>Social media trends 2024: Go behind the screens with our flagship social media report</a:t>
            </a:r>
            <a:r>
              <a:rPr lang="en-US" sz="1200" dirty="0"/>
              <a:t>. </a:t>
            </a:r>
            <a:r>
              <a:rPr lang="en-US" sz="1200" dirty="0">
                <a:hlinkClick r:id="rId5"/>
              </a:rPr>
              <a:t>https://www.gwi.com/reports/social</a:t>
            </a:r>
            <a:r>
              <a:rPr lang="es-MX" sz="1200" dirty="0">
                <a:solidFill>
                  <a:srgbClr val="88726C"/>
                </a:solidFill>
                <a:latin typeface="Montserrat Medium" pitchFamily="2" charset="0"/>
              </a:rPr>
              <a:t> 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84B975E-ED55-8155-497D-6F2D6E6A122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317" y="1321762"/>
            <a:ext cx="1906936" cy="190693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02F2F383-1607-BBE9-4994-9B3056DD0591}"/>
              </a:ext>
            </a:extLst>
          </p:cNvPr>
          <p:cNvSpPr txBox="1"/>
          <p:nvPr/>
        </p:nvSpPr>
        <p:spPr>
          <a:xfrm>
            <a:off x="1574810" y="614690"/>
            <a:ext cx="2365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rgbClr val="FF0000"/>
                </a:solidFill>
                <a:latin typeface="Montserrat SemiBold" pitchFamily="2" charset="0"/>
              </a:rPr>
              <a:t>PROBLEMA</a:t>
            </a:r>
            <a:endParaRPr lang="es-CO" sz="2800" dirty="0">
              <a:solidFill>
                <a:srgbClr val="FF0000"/>
              </a:solidFill>
              <a:latin typeface="Montserrat SemiBold" pitchFamily="2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C31BF2B-AC15-67D2-0A63-2ECAB94B5793}"/>
              </a:ext>
            </a:extLst>
          </p:cNvPr>
          <p:cNvSpPr txBox="1"/>
          <p:nvPr/>
        </p:nvSpPr>
        <p:spPr>
          <a:xfrm>
            <a:off x="5144340" y="614690"/>
            <a:ext cx="2211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rgbClr val="FF0000"/>
                </a:solidFill>
                <a:latin typeface="Montserrat SemiBold" pitchFamily="2" charset="0"/>
              </a:rPr>
              <a:t>SOLUCIÓN</a:t>
            </a:r>
            <a:endParaRPr lang="es-CO" sz="2800" dirty="0">
              <a:solidFill>
                <a:srgbClr val="FF0000"/>
              </a:solidFill>
              <a:latin typeface="Montserrat SemiBold" pitchFamily="2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55AA814B-7DE3-836C-979A-32B4ED8EEC9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598" y="1251222"/>
            <a:ext cx="1906937" cy="190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27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1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221E4-3812-7921-C285-1E749D5A1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10D0EA-A6E6-B92D-8964-03DC020DD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-12065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25BDFC8-7F0B-E93E-852F-5C2FA9CC5B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95" y="1208567"/>
            <a:ext cx="4440866" cy="444086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FF06C1D-379A-7238-9F2B-5C50B39150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442" y="1284767"/>
            <a:ext cx="2259825" cy="45257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8C5F968-C781-AEA6-238D-76631BF0C2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2"/>
          <a:stretch>
            <a:fillRect/>
          </a:stretch>
        </p:blipFill>
        <p:spPr>
          <a:xfrm>
            <a:off x="4365011" y="1284767"/>
            <a:ext cx="2259825" cy="45437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B904B444-B56B-8EC8-D7F8-A3547A60FF31}"/>
              </a:ext>
            </a:extLst>
          </p:cNvPr>
          <p:cNvSpPr txBox="1"/>
          <p:nvPr/>
        </p:nvSpPr>
        <p:spPr>
          <a:xfrm>
            <a:off x="2209213" y="321573"/>
            <a:ext cx="35777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dirty="0">
                <a:solidFill>
                  <a:srgbClr val="FF0000"/>
                </a:solidFill>
                <a:latin typeface="Montserrat SemiBold" pitchFamily="2" charset="0"/>
              </a:rPr>
              <a:t>Perlapp</a:t>
            </a:r>
            <a:endParaRPr lang="es-CO" sz="4000" dirty="0">
              <a:solidFill>
                <a:srgbClr val="FF0000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722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C603F-F981-4141-29C4-B85653AB7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85D835A-C137-F5E4-4E13-50D54ABEE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-120650" y="0"/>
            <a:ext cx="12192000" cy="68580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A0CA3C07-51BC-0DAA-CCF1-E36761E3C389}"/>
              </a:ext>
            </a:extLst>
          </p:cNvPr>
          <p:cNvSpPr txBox="1"/>
          <p:nvPr/>
        </p:nvSpPr>
        <p:spPr>
          <a:xfrm>
            <a:off x="3898873" y="315993"/>
            <a:ext cx="3577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 err="1">
                <a:solidFill>
                  <a:srgbClr val="FF0000"/>
                </a:solidFill>
                <a:latin typeface="Montserrat SemiBold" pitchFamily="2" charset="0"/>
              </a:rPr>
              <a:t>Onboarding</a:t>
            </a:r>
            <a:endParaRPr lang="es-CO" sz="2800" dirty="0">
              <a:solidFill>
                <a:srgbClr val="FF0000"/>
              </a:solidFill>
              <a:latin typeface="Montserrat SemiBold" pitchFamily="2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4280FD3-A9AC-87D5-A18A-B7F3385B7F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185" y="1155704"/>
            <a:ext cx="2315165" cy="45756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614E65A-5FE3-686B-AD4F-D3FCDA033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" r="5095"/>
          <a:stretch>
            <a:fillRect/>
          </a:stretch>
        </p:blipFill>
        <p:spPr>
          <a:xfrm>
            <a:off x="57123" y="1141179"/>
            <a:ext cx="2193003" cy="4575641"/>
          </a:xfrm>
          <a:prstGeom prst="round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7437142-27C4-297C-D6B7-50B3CE6C2A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8" r="480"/>
          <a:stretch>
            <a:fillRect/>
          </a:stretch>
        </p:blipFill>
        <p:spPr>
          <a:xfrm>
            <a:off x="7346559" y="1126654"/>
            <a:ext cx="2306472" cy="4590166"/>
          </a:xfrm>
          <a:prstGeom prst="round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C1FBEDA-7488-53A9-9D9D-8C01E02FE2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1"/>
          <a:stretch>
            <a:fillRect/>
          </a:stretch>
        </p:blipFill>
        <p:spPr>
          <a:xfrm>
            <a:off x="2435558" y="1141179"/>
            <a:ext cx="2259824" cy="460244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E0269E2E-EEF2-40FC-91F2-A468404F3F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0"/>
          <a:stretch>
            <a:fillRect/>
          </a:stretch>
        </p:blipFill>
        <p:spPr>
          <a:xfrm>
            <a:off x="4901303" y="1141179"/>
            <a:ext cx="2340463" cy="459016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098471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0207A-017D-5A14-8A3B-A5C819539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80BF6B2-904C-CB04-E305-A29483885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-120650" y="0"/>
            <a:ext cx="12192000" cy="68580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921E771A-2705-71C4-ACBF-0B45E91B2339}"/>
              </a:ext>
            </a:extLst>
          </p:cNvPr>
          <p:cNvSpPr txBox="1"/>
          <p:nvPr/>
        </p:nvSpPr>
        <p:spPr>
          <a:xfrm>
            <a:off x="4031713" y="370844"/>
            <a:ext cx="3577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solidFill>
                  <a:srgbClr val="FF0000"/>
                </a:solidFill>
                <a:latin typeface="Montserrat SemiBold" pitchFamily="2" charset="0"/>
              </a:rPr>
              <a:t>Crear Post</a:t>
            </a:r>
            <a:endParaRPr lang="es-CO" sz="2800" dirty="0">
              <a:solidFill>
                <a:srgbClr val="FF0000"/>
              </a:solidFill>
              <a:latin typeface="Montserrat SemiBold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6B14095-BCF8-DA46-16DA-0846338B0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497" y="1156088"/>
            <a:ext cx="2572155" cy="50694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90920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84F6D-4E6F-5A13-DC20-5ED93E86E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F1031D6-5BF4-99E6-1305-0965AEB8B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1E8BE07-7727-F175-9CA5-3A88738F133D}"/>
              </a:ext>
            </a:extLst>
          </p:cNvPr>
          <p:cNvSpPr txBox="1"/>
          <p:nvPr/>
        </p:nvSpPr>
        <p:spPr>
          <a:xfrm>
            <a:off x="3234520" y="302346"/>
            <a:ext cx="5252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err="1">
                <a:solidFill>
                  <a:srgbClr val="FF0000"/>
                </a:solidFill>
                <a:latin typeface="Montserrat SemiBold" pitchFamily="2" charset="0"/>
              </a:rPr>
              <a:t>Dashboard</a:t>
            </a:r>
            <a:r>
              <a:rPr lang="es-MX" sz="2800" dirty="0">
                <a:solidFill>
                  <a:srgbClr val="FF0000"/>
                </a:solidFill>
                <a:latin typeface="Montserrat SemiBold" pitchFamily="2" charset="0"/>
              </a:rPr>
              <a:t> Dedicado CCSM</a:t>
            </a:r>
            <a:endParaRPr lang="es-CO" sz="2800" dirty="0">
              <a:solidFill>
                <a:srgbClr val="FF0000"/>
              </a:solidFill>
              <a:latin typeface="Montserrat SemiBold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FA5EC2-F5A7-9E60-3CFF-F5DF7553D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46" y="1127912"/>
            <a:ext cx="5009990" cy="250812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5FB6134-9760-C1BA-8E7F-72A6330D50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085" y="1127913"/>
            <a:ext cx="4985095" cy="250812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4AEA536-1D6F-FBD0-E55C-6945EB42E6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10" y="3771813"/>
            <a:ext cx="5028826" cy="250812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65E7173-6A67-1338-2B73-3AE1ABA8E1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085" y="3771813"/>
            <a:ext cx="4985095" cy="250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39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A6D1C-993F-D6E8-1559-08070A76D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36D446F-25B2-70CC-8318-D406968DF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FB2B841-911C-37D1-8E97-49D4C16C54DD}"/>
              </a:ext>
            </a:extLst>
          </p:cNvPr>
          <p:cNvSpPr txBox="1"/>
          <p:nvPr/>
        </p:nvSpPr>
        <p:spPr>
          <a:xfrm>
            <a:off x="3234520" y="302346"/>
            <a:ext cx="5252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err="1">
                <a:solidFill>
                  <a:srgbClr val="FF0000"/>
                </a:solidFill>
                <a:latin typeface="Montserrat SemiBold" pitchFamily="2" charset="0"/>
              </a:rPr>
              <a:t>Dashboard</a:t>
            </a:r>
            <a:r>
              <a:rPr lang="es-MX" sz="2800" dirty="0">
                <a:solidFill>
                  <a:srgbClr val="FF0000"/>
                </a:solidFill>
                <a:latin typeface="Montserrat SemiBold" pitchFamily="2" charset="0"/>
              </a:rPr>
              <a:t> Dedicado CCSM</a:t>
            </a:r>
            <a:endParaRPr lang="es-CO" sz="2800" dirty="0">
              <a:solidFill>
                <a:srgbClr val="FF0000"/>
              </a:solidFill>
              <a:latin typeface="Montserrat SemiBold" pitchFamily="2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F15F454-DE29-C011-7DCE-8A72CBD3E5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60" y="2029485"/>
            <a:ext cx="5633265" cy="279902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2EB48F6-5B3D-248D-76C2-764ECA9EB8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475" y="2029485"/>
            <a:ext cx="5633265" cy="281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562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AD9C6-C72B-2E40-60F7-4764C3F9F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E0EBA9F-029E-5F98-9FF4-92245CECD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965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BEF30-AE23-E936-9D24-3655315A0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DA61ED7-A1E0-3DFC-2FB5-1B20B540A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90F0032-FD1C-65F1-E1B2-90B41905B5F0}"/>
              </a:ext>
            </a:extLst>
          </p:cNvPr>
          <p:cNvSpPr txBox="1"/>
          <p:nvPr/>
        </p:nvSpPr>
        <p:spPr>
          <a:xfrm>
            <a:off x="3396328" y="229664"/>
            <a:ext cx="48059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dirty="0">
                <a:solidFill>
                  <a:srgbClr val="FF0000"/>
                </a:solidFill>
                <a:latin typeface="Montserrat SemiBold" pitchFamily="2" charset="0"/>
              </a:rPr>
              <a:t>Decisiones clave</a:t>
            </a:r>
            <a:endParaRPr lang="es-CO" sz="4000" dirty="0">
              <a:solidFill>
                <a:srgbClr val="FF0000"/>
              </a:solidFill>
              <a:latin typeface="Montserrat SemiBold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456A36-D7DF-2B84-4105-F3CE85B87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07" y="1405751"/>
            <a:ext cx="279380" cy="27938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14C9D47-2882-E258-74B3-83CB8F15C4A7}"/>
              </a:ext>
            </a:extLst>
          </p:cNvPr>
          <p:cNvSpPr txBox="1"/>
          <p:nvPr/>
        </p:nvSpPr>
        <p:spPr>
          <a:xfrm>
            <a:off x="1228297" y="1378455"/>
            <a:ext cx="99492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La arquitectura escogida obedece a criterios estrictamente de tiempos y capacidad de despliegue, apegándonos a estrategia de desarrollo ágil y a trabajar sobre lo que mejor dominamos.</a:t>
            </a:r>
            <a:endParaRPr lang="es-CO" sz="24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8B3717-43AC-4021-E1AC-1F81684DC8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06" y="2686649"/>
            <a:ext cx="279380" cy="27938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5E6DFAA-F43D-6E8C-56AE-95B3884658AB}"/>
              </a:ext>
            </a:extLst>
          </p:cNvPr>
          <p:cNvSpPr txBox="1"/>
          <p:nvPr/>
        </p:nvSpPr>
        <p:spPr>
          <a:xfrm>
            <a:off x="1200999" y="2661659"/>
            <a:ext cx="9949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Plataforma (</a:t>
            </a:r>
            <a:r>
              <a:rPr lang="es-MX" sz="2400" b="1" dirty="0" err="1"/>
              <a:t>Dashboard</a:t>
            </a:r>
            <a:r>
              <a:rPr lang="es-MX" sz="2400" b="1" dirty="0"/>
              <a:t>) dedicado a CCSM para obtener la información que requieren de manera intuitiva y fácil </a:t>
            </a:r>
            <a:endParaRPr lang="es-CO" sz="2400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C333A62-AF22-7F07-D464-D47C945EB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07" y="3654973"/>
            <a:ext cx="279380" cy="27938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BA22245-AE10-1669-8B92-E593BF56C1FF}"/>
              </a:ext>
            </a:extLst>
          </p:cNvPr>
          <p:cNvSpPr txBox="1"/>
          <p:nvPr/>
        </p:nvSpPr>
        <p:spPr>
          <a:xfrm>
            <a:off x="1200999" y="3654973"/>
            <a:ext cx="994921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Las plataformas sociales +60% de los descubrimientos de productos, un enfoque mucho más cercano y humano de las unidades de negocio +orgánica y omnicanalidad logrando + alcance y + volumen [2].</a:t>
            </a:r>
          </a:p>
          <a:p>
            <a:endParaRPr lang="es-MX" sz="2400" b="1" dirty="0"/>
          </a:p>
          <a:p>
            <a:endParaRPr lang="es-MX" sz="2400" b="1" dirty="0"/>
          </a:p>
          <a:p>
            <a:endParaRPr lang="es-MX" sz="2400" b="1" dirty="0"/>
          </a:p>
          <a:p>
            <a:r>
              <a:rPr lang="es-MX" sz="1200" dirty="0"/>
              <a:t>Fuente: [2] N. E. </a:t>
            </a:r>
            <a:r>
              <a:rPr lang="es-MX" sz="1200" dirty="0" err="1"/>
              <a:t>Contributors</a:t>
            </a:r>
            <a:r>
              <a:rPr lang="es-MX" sz="1200" dirty="0"/>
              <a:t>, «Social Media </a:t>
            </a:r>
            <a:r>
              <a:rPr lang="es-MX" sz="1200" dirty="0" err="1"/>
              <a:t>Trends</a:t>
            </a:r>
            <a:r>
              <a:rPr lang="es-MX" sz="1200" dirty="0"/>
              <a:t> in 2026: </a:t>
            </a:r>
            <a:r>
              <a:rPr lang="es-MX" sz="1200" dirty="0" err="1"/>
              <a:t>What’s</a:t>
            </a:r>
            <a:r>
              <a:rPr lang="es-MX" sz="1200" dirty="0"/>
              <a:t> Next», </a:t>
            </a:r>
            <a:r>
              <a:rPr lang="es-MX" sz="1200" dirty="0" err="1"/>
              <a:t>National</a:t>
            </a:r>
            <a:r>
              <a:rPr lang="es-MX" sz="1200" dirty="0"/>
              <a:t> </a:t>
            </a:r>
            <a:r>
              <a:rPr lang="es-MX" sz="1200" dirty="0" err="1"/>
              <a:t>University</a:t>
            </a:r>
            <a:r>
              <a:rPr lang="es-MX" sz="1200" dirty="0"/>
              <a:t>. Accedido: 26 de abril de 2026. [En línea]. Disponible en: </a:t>
            </a:r>
            <a:r>
              <a:rPr lang="es-MX" sz="1200" dirty="0">
                <a:hlinkClick r:id="rId4"/>
              </a:rPr>
              <a:t>https://www.nu.edu/blog/social-media-trends/</a:t>
            </a:r>
            <a:endParaRPr lang="es-MX" sz="1200" dirty="0"/>
          </a:p>
          <a:p>
            <a:endParaRPr lang="es-CO" sz="2400" b="1" dirty="0"/>
          </a:p>
        </p:txBody>
      </p:sp>
    </p:spTree>
    <p:extLst>
      <p:ext uri="{BB962C8B-B14F-4D97-AF65-F5344CB8AC3E}">
        <p14:creationId xmlns:p14="http://schemas.microsoft.com/office/powerpoint/2010/main" val="590348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A7B2D-91C1-D410-6110-9ECFE34A1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ADAB50B-F3E2-A9E5-37DF-24C740112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-120650" y="0"/>
            <a:ext cx="12192000" cy="68580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7EAAB80-EEAB-F7FB-2296-D49FDDAC24A1}"/>
              </a:ext>
            </a:extLst>
          </p:cNvPr>
          <p:cNvSpPr txBox="1"/>
          <p:nvPr/>
        </p:nvSpPr>
        <p:spPr>
          <a:xfrm>
            <a:off x="3834384" y="283694"/>
            <a:ext cx="4523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solidFill>
                  <a:srgbClr val="FF0000"/>
                </a:solidFill>
                <a:latin typeface="Montserrat SemiBold" pitchFamily="2" charset="0"/>
              </a:rPr>
              <a:t>Nuestro Equipo &amp; Roles</a:t>
            </a:r>
            <a:endParaRPr lang="es-CO" sz="2800" dirty="0">
              <a:solidFill>
                <a:srgbClr val="FF0000"/>
              </a:solidFill>
              <a:latin typeface="Montserrat SemiBold" pitchFamily="2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127B3E3-C874-8F0C-601A-3394AB3BF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237704"/>
              </p:ext>
            </p:extLst>
          </p:nvPr>
        </p:nvGraphicFramePr>
        <p:xfrm>
          <a:off x="448610" y="1017370"/>
          <a:ext cx="11053480" cy="52953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0696">
                  <a:extLst>
                    <a:ext uri="{9D8B030D-6E8A-4147-A177-3AD203B41FA5}">
                      <a16:colId xmlns:a16="http://schemas.microsoft.com/office/drawing/2014/main" val="1371359142"/>
                    </a:ext>
                  </a:extLst>
                </a:gridCol>
                <a:gridCol w="2210696">
                  <a:extLst>
                    <a:ext uri="{9D8B030D-6E8A-4147-A177-3AD203B41FA5}">
                      <a16:colId xmlns:a16="http://schemas.microsoft.com/office/drawing/2014/main" val="1537358584"/>
                    </a:ext>
                  </a:extLst>
                </a:gridCol>
                <a:gridCol w="2210696">
                  <a:extLst>
                    <a:ext uri="{9D8B030D-6E8A-4147-A177-3AD203B41FA5}">
                      <a16:colId xmlns:a16="http://schemas.microsoft.com/office/drawing/2014/main" val="3230804091"/>
                    </a:ext>
                  </a:extLst>
                </a:gridCol>
                <a:gridCol w="2210696">
                  <a:extLst>
                    <a:ext uri="{9D8B030D-6E8A-4147-A177-3AD203B41FA5}">
                      <a16:colId xmlns:a16="http://schemas.microsoft.com/office/drawing/2014/main" val="2718654191"/>
                    </a:ext>
                  </a:extLst>
                </a:gridCol>
                <a:gridCol w="2210696">
                  <a:extLst>
                    <a:ext uri="{9D8B030D-6E8A-4147-A177-3AD203B41FA5}">
                      <a16:colId xmlns:a16="http://schemas.microsoft.com/office/drawing/2014/main" val="141120759"/>
                    </a:ext>
                  </a:extLst>
                </a:gridCol>
              </a:tblGrid>
              <a:tr h="4038724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828701"/>
                  </a:ext>
                </a:extLst>
              </a:tr>
              <a:tr h="1256602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Montserrat SemiBold" pitchFamily="2" charset="0"/>
                        </a:rPr>
                        <a:t>Armando Hernández</a:t>
                      </a:r>
                      <a:br>
                        <a:rPr lang="es-MX" dirty="0">
                          <a:latin typeface="Montserrat SemiBold" pitchFamily="2" charset="0"/>
                        </a:rPr>
                      </a:br>
                      <a:r>
                        <a:rPr lang="es-MX" dirty="0">
                          <a:latin typeface="Montserrat SemiBold" pitchFamily="2" charset="0"/>
                        </a:rPr>
                        <a:t>(Full Stack – UX/UI)</a:t>
                      </a:r>
                      <a:endParaRPr lang="es-CO" dirty="0">
                        <a:latin typeface="Montserrat SemiBold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Montserrat SemiBold" pitchFamily="2" charset="0"/>
                        </a:rPr>
                        <a:t>Javier </a:t>
                      </a:r>
                      <a:r>
                        <a:rPr lang="es-MX" dirty="0" err="1">
                          <a:latin typeface="Montserrat SemiBold" pitchFamily="2" charset="0"/>
                        </a:rPr>
                        <a:t>Garcia</a:t>
                      </a:r>
                      <a:r>
                        <a:rPr lang="es-MX" dirty="0">
                          <a:latin typeface="Montserrat SemiBold" pitchFamily="2" charset="0"/>
                        </a:rPr>
                        <a:t> (</a:t>
                      </a:r>
                      <a:r>
                        <a:rPr lang="es-MX" dirty="0" err="1">
                          <a:latin typeface="Montserrat SemiBold" pitchFamily="2" charset="0"/>
                        </a:rPr>
                        <a:t>Backend</a:t>
                      </a:r>
                      <a:r>
                        <a:rPr lang="es-MX" dirty="0">
                          <a:latin typeface="Montserrat SemiBold" pitchFamily="2" charset="0"/>
                        </a:rPr>
                        <a:t>)</a:t>
                      </a:r>
                      <a:endParaRPr lang="es-CO" dirty="0">
                        <a:latin typeface="Montserrat SemiBold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Montserrat SemiBold" pitchFamily="2" charset="0"/>
                        </a:rPr>
                        <a:t>Juan Gómez (</a:t>
                      </a:r>
                      <a:r>
                        <a:rPr lang="es-MX" dirty="0" err="1">
                          <a:latin typeface="Montserrat SemiBold" pitchFamily="2" charset="0"/>
                        </a:rPr>
                        <a:t>Frontend</a:t>
                      </a:r>
                      <a:r>
                        <a:rPr lang="es-MX" dirty="0">
                          <a:latin typeface="Montserrat SemiBold" pitchFamily="2" charset="0"/>
                        </a:rPr>
                        <a:t>)</a:t>
                      </a:r>
                      <a:endParaRPr lang="es-CO" dirty="0">
                        <a:latin typeface="Montserrat SemiBold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Montserrat SemiBold" pitchFamily="2" charset="0"/>
                        </a:rPr>
                        <a:t>Giancarlos Mazenett (QA)</a:t>
                      </a:r>
                      <a:endParaRPr lang="es-CO" dirty="0">
                        <a:latin typeface="Montserrat SemiBold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Montserrat SemiBold" pitchFamily="2" charset="0"/>
                        </a:rPr>
                        <a:t>Miguel Abuabara (</a:t>
                      </a:r>
                      <a:r>
                        <a:rPr lang="es-MX" dirty="0" err="1">
                          <a:latin typeface="Montserrat SemiBold" pitchFamily="2" charset="0"/>
                        </a:rPr>
                        <a:t>Product</a:t>
                      </a:r>
                      <a:r>
                        <a:rPr lang="es-MX" dirty="0">
                          <a:latin typeface="Montserrat SemiBold" pitchFamily="2" charset="0"/>
                        </a:rPr>
                        <a:t> </a:t>
                      </a:r>
                      <a:r>
                        <a:rPr lang="es-MX" dirty="0" err="1">
                          <a:latin typeface="Montserrat SemiBold" pitchFamily="2" charset="0"/>
                        </a:rPr>
                        <a:t>Researcher</a:t>
                      </a:r>
                      <a:r>
                        <a:rPr lang="es-MX" dirty="0">
                          <a:latin typeface="Montserrat SemiBold" pitchFamily="2" charset="0"/>
                        </a:rPr>
                        <a:t>)</a:t>
                      </a:r>
                      <a:endParaRPr lang="es-CO" dirty="0">
                        <a:latin typeface="Montserrat SemiBold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474551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CE7D7C52-C50B-3981-DF7A-CB0C5504A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3011" y="1801904"/>
            <a:ext cx="1906121" cy="25414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4B02953-56BA-2860-5077-6211CB5215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64" y="1801904"/>
            <a:ext cx="1906121" cy="254149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A53C7D4-AC6D-2635-85B5-B21833CC8D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814" y="1801904"/>
            <a:ext cx="1906121" cy="254149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A6A836E-5BB1-533B-8DA7-E7A2498C27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617" y="1801903"/>
            <a:ext cx="1906121" cy="254149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D73F785-67F0-FC67-C4F1-23818B4FF6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561" y="1801903"/>
            <a:ext cx="1906121" cy="254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99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6199B-9055-4869-09C6-32F2C64B3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15453CD-1F99-F3D9-ED64-F70D0EE74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A13AED6-FDDB-3D97-1FAB-DC38397E9A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0" y="2000250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654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</TotalTime>
  <Words>285</Words>
  <Application>Microsoft Office PowerPoint</Application>
  <PresentationFormat>Widescreen</PresentationFormat>
  <Paragraphs>29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ANGEL ABUABARA JIMENEZ</dc:creator>
  <cp:lastModifiedBy>MIGUEL ANGEL ABUABARA JIMENEZ</cp:lastModifiedBy>
  <cp:revision>4</cp:revision>
  <dcterms:created xsi:type="dcterms:W3CDTF">2026-04-26T04:32:26Z</dcterms:created>
  <dcterms:modified xsi:type="dcterms:W3CDTF">2026-04-26T18:56:17Z</dcterms:modified>
</cp:coreProperties>
</file>